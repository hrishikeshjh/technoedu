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75488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TECHNO
WALLAH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5943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C1DCF0"/>
                </a:solidFill>
                <a:latin typeface="Aptos"/>
              </a:rPr>
              <a:t>Open-Source Exam &amp; Study Material Aggregator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65836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Offerings • Student Value • Institutional Advantage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2926080" cy="3566160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51460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63040"/>
            <a:ext cx="2926080" cy="3566160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278892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2926080" cy="3566160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59" y="306324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011680"/>
            <a:ext cx="2926080" cy="3566160"/>
          </a:xfrm>
          <a:prstGeom prst="round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333756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80760"/>
            <a:ext cx="5943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AFBECD"/>
                </a:solidFill>
                <a:latin typeface="Aptos"/>
              </a:rPr>
              <a:t>Website studied: technoedu-wheat.vercel.app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What is Techno Wallah?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A student-facing academic resource aggregation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8463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0F253F"/>
                </a:solidFill>
                <a:latin typeface="Aptos"/>
              </a:rPr>
              <a:t>ONE ACADEMIC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9377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12830"/>
                </a:solidFill>
                <a:latin typeface="Aptos"/>
              </a:rPr>
              <a:t>The site positions Techno Wallah as an open-source platform for bringing exam and study materials together, reducing dependence on scattered links and informal resource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5394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874519"/>
            <a:ext cx="566928" cy="566928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669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874519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253F"/>
                </a:solidFill>
                <a:latin typeface="Aptos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874519"/>
            <a:ext cx="2331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E6974"/>
                </a:solidFill>
                <a:latin typeface="Aptos"/>
              </a:rPr>
              <a:t>Find the right resource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88920"/>
            <a:ext cx="566928" cy="566928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5669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88920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253F"/>
                </a:solidFill>
                <a:latin typeface="Aptos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788920"/>
            <a:ext cx="2331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E6974"/>
                </a:solidFill>
                <a:latin typeface="Aptos"/>
              </a:rPr>
              <a:t>Reach study material quickly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03320"/>
            <a:ext cx="566928" cy="566928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59"/>
            <a:ext cx="5669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703320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253F"/>
                </a:solidFill>
                <a:latin typeface="Aptos"/>
              </a:rPr>
              <a:t>PREPARE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703320"/>
            <a:ext cx="2331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E6974"/>
                </a:solidFill>
                <a:latin typeface="Aptos"/>
              </a:rPr>
              <a:t>Focus on examination needs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17720"/>
            <a:ext cx="566928" cy="566928"/>
          </a:xfrm>
          <a:prstGeom prst="round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59"/>
            <a:ext cx="5669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617720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253F"/>
                </a:solidFill>
                <a:latin typeface="Aptos"/>
              </a:rPr>
              <a:t>REUSE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617720"/>
            <a:ext cx="2331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E6974"/>
                </a:solidFill>
                <a:latin typeface="Aptos"/>
              </a:rPr>
              <a:t>Preserve academic knowledge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The Student Problem It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Academic content often exists — but is fragmented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3152" cy="1600200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C569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810512"/>
            <a:ext cx="4233672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Scattered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40280"/>
            <a:ext cx="4663440" cy="8503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Notes, question papers and links may live in many places.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459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73152" cy="1600200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810512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99DB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810512"/>
            <a:ext cx="4233672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Search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240280"/>
            <a:ext cx="4663440" cy="8503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Students lose time locating the correct version or subject resource.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73152" cy="1600200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67911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4827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867911"/>
            <a:ext cx="4233672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Informal Sharing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97680"/>
            <a:ext cx="4663440" cy="8503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Useful material can remain trapped in chats or personal drives.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703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59" y="3703320"/>
            <a:ext cx="73152" cy="1600200"/>
          </a:xfrm>
          <a:prstGeom prst="round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867911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DAA520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867911"/>
            <a:ext cx="4233672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Knowledge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297680"/>
            <a:ext cx="4663440" cy="8503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Resources may disappear when semesters, batches or faculty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Core Offerings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What the platform is designed to deliver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73152" cy="1691640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19072"/>
            <a:ext cx="2971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Study Material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2971800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Central access point for learning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544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73152" cy="1691640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719072"/>
            <a:ext cx="2971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Exam Resource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2971800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Exam-focused material collected for easier preparation.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544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73152" cy="1691640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1719072"/>
            <a:ext cx="2971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Structured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148840"/>
            <a:ext cx="2971800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Resources can be organised by academic context rather than raw file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73152" cy="1691640"/>
          </a:xfrm>
          <a:prstGeom prst="round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67911"/>
            <a:ext cx="2971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Open-Source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297680"/>
            <a:ext cx="2971800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Scope for institutional customisation and continued development.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03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3703320"/>
            <a:ext cx="73152" cy="1691640"/>
          </a:xfrm>
          <a:prstGeom prst="roundRect">
            <a:avLst/>
          </a:prstGeom>
          <a:solidFill>
            <a:srgbClr val="2F915C"/>
          </a:solidFill>
          <a:ln>
            <a:solidFill>
              <a:srgbClr val="2F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3867911"/>
            <a:ext cx="2971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Persistent 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297680"/>
            <a:ext cx="2971800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Academic material can remain useful across batches and semesters.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03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21040" y="3703320"/>
            <a:ext cx="73152" cy="1691640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7072" y="3867911"/>
            <a:ext cx="29718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Student-Centric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4297680"/>
            <a:ext cx="2971800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A simpler learning/preparation layer alongside administrative systems.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A Simpler Academic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From “Where is the material?” to “Start studying.”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42316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89888" y="1600200"/>
            <a:ext cx="914400" cy="914400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810512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965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F253F"/>
                </a:solidFill>
                <a:latin typeface="Aptos"/>
              </a:rPr>
              <a:t>Choose academic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63240"/>
            <a:ext cx="1920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5E6974"/>
                </a:solidFill>
                <a:latin typeface="Aptos"/>
              </a:rPr>
              <a:t>Programme / semester /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423160"/>
            <a:ext cx="411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199DB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11680"/>
            <a:ext cx="242316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24528" y="1600200"/>
            <a:ext cx="914400" cy="914400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810512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331720"/>
            <a:ext cx="1965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F253F"/>
                </a:solidFill>
                <a:latin typeface="Aptos"/>
              </a:rPr>
              <a:t>Find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063240"/>
            <a:ext cx="1920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5E6974"/>
                </a:solidFill>
                <a:latin typeface="Aptos"/>
              </a:rPr>
              <a:t>Relevant study and exam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2423160"/>
            <a:ext cx="411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199DB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011680"/>
            <a:ext cx="242316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59168" y="1600200"/>
            <a:ext cx="914400" cy="914400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1810512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31720"/>
            <a:ext cx="1965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F253F"/>
                </a:solidFill>
                <a:latin typeface="Aptos"/>
              </a:rPr>
              <a:t>Prepare efficiently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63240"/>
            <a:ext cx="1920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5E6974"/>
                </a:solidFill>
                <a:latin typeface="Aptos"/>
              </a:rPr>
              <a:t>Spend more time learning, less time searching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423160"/>
            <a:ext cx="411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199DBE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011680"/>
            <a:ext cx="242316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93808" y="1600200"/>
            <a:ext cx="914400" cy="914400"/>
          </a:xfrm>
          <a:prstGeom prst="round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8" y="1810512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331720"/>
            <a:ext cx="1965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F253F"/>
                </a:solidFill>
                <a:latin typeface="Aptos"/>
              </a:rPr>
              <a:t>Return anytime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063240"/>
            <a:ext cx="1920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5E6974"/>
                </a:solidFill>
                <a:latin typeface="Aptos"/>
              </a:rPr>
              <a:t>Use a persistent academic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Why the Proposition is Distinctive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ED2E4"/>
                </a:solidFill>
                <a:latin typeface="Aptos"/>
              </a:rPr>
              <a:t>The USP is not merely storage — it is academic aggregation with student intent.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1600200"/>
          </a:xfrm>
          <a:prstGeom prst="roundRect">
            <a:avLst/>
          </a:prstGeom>
          <a:solidFill>
            <a:srgbClr val="183250"/>
          </a:solidFill>
          <a:ln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9DBE"/>
                </a:solidFill>
                <a:latin typeface="Aptos"/>
              </a:rPr>
              <a:t>ONE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2926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Consolidates fragmented academic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00200"/>
            <a:ext cx="3429000" cy="1600200"/>
          </a:xfrm>
          <a:prstGeom prst="roundRect">
            <a:avLst/>
          </a:prstGeom>
          <a:solidFill>
            <a:srgbClr val="183250"/>
          </a:solidFill>
          <a:ln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01368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AA520"/>
                </a:solidFill>
                <a:latin typeface="Aptos"/>
              </a:rPr>
              <a:t>EXAM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58568"/>
            <a:ext cx="2926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Preparation-oriented rather than generic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600200"/>
            <a:ext cx="3429000" cy="1600200"/>
          </a:xfrm>
          <a:prstGeom prst="roundRect">
            <a:avLst/>
          </a:prstGeom>
          <a:solidFill>
            <a:srgbClr val="183250"/>
          </a:solidFill>
          <a:ln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01368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71CDBE"/>
                </a:solidFill>
                <a:latin typeface="Aptos"/>
              </a:rPr>
              <a:t>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58568"/>
            <a:ext cx="2926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Greater room for customisation and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3429000" cy="1600200"/>
          </a:xfrm>
          <a:prstGeom prst="roundRect">
            <a:avLst/>
          </a:prstGeom>
          <a:solidFill>
            <a:srgbClr val="183250"/>
          </a:solidFill>
          <a:ln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04487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99DBE"/>
                </a:solidFill>
                <a:latin typeface="Aptos"/>
              </a:rPr>
              <a:t>LOW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2926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Easy value proposition for student adoption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703320"/>
            <a:ext cx="3429000" cy="1600200"/>
          </a:xfrm>
          <a:prstGeom prst="roundRect">
            <a:avLst/>
          </a:prstGeom>
          <a:solidFill>
            <a:srgbClr val="183250"/>
          </a:solidFill>
          <a:ln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904487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AA520"/>
                </a:solidFill>
                <a:latin typeface="Aptos"/>
              </a:rPr>
              <a:t>SCALABLE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361688"/>
            <a:ext cx="2926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Can extend across schools, programmes and subjects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703320"/>
            <a:ext cx="3429000" cy="1600200"/>
          </a:xfrm>
          <a:prstGeom prst="roundRect">
            <a:avLst/>
          </a:prstGeom>
          <a:solidFill>
            <a:srgbClr val="183250"/>
          </a:solidFill>
          <a:ln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904487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71CDBE"/>
                </a:solidFill>
                <a:latin typeface="Aptos"/>
              </a:rPr>
              <a:t>AI-READY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361688"/>
            <a:ext cx="2926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Structured content can support future intelligent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96AABE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96AAB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Where Techno Wallah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Complementing—not necessarily replacing—existing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2468880" cy="502920"/>
          </a:xfrm>
          <a:prstGeom prst="rect">
            <a:avLst/>
          </a:prstGeom>
          <a:solidFill>
            <a:srgbClr val="0F253F"/>
          </a:solidFill>
          <a:ln>
            <a:solidFill>
              <a:srgbClr val="0F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00784"/>
            <a:ext cx="2249424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554480"/>
            <a:ext cx="3017520" cy="502920"/>
          </a:xfrm>
          <a:prstGeom prst="rect">
            <a:avLst/>
          </a:prstGeom>
          <a:solidFill>
            <a:srgbClr val="0F253F"/>
          </a:solidFill>
          <a:ln>
            <a:solidFill>
              <a:srgbClr val="0F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700784"/>
            <a:ext cx="2798063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PRIMARY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554480"/>
            <a:ext cx="5029200" cy="502920"/>
          </a:xfrm>
          <a:prstGeom prst="rect">
            <a:avLst/>
          </a:prstGeom>
          <a:solidFill>
            <a:srgbClr val="0F253F"/>
          </a:solidFill>
          <a:ln>
            <a:solidFill>
              <a:srgbClr val="0F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00784"/>
            <a:ext cx="4809744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TECHNO WALLAH 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75688"/>
            <a:ext cx="246888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212848"/>
            <a:ext cx="224942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253F"/>
                </a:solidFill>
                <a:latin typeface="Aptos"/>
              </a:rPr>
              <a:t>University ERP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75688"/>
            <a:ext cx="30175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212848"/>
            <a:ext cx="27980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Administration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75688"/>
            <a:ext cx="5029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212848"/>
            <a:ext cx="48097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Student academic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70048"/>
            <a:ext cx="246888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807208"/>
            <a:ext cx="224942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253F"/>
                </a:solidFill>
                <a:latin typeface="Aptos"/>
              </a:rPr>
              <a:t>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670048"/>
            <a:ext cx="301752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2807208"/>
            <a:ext cx="27980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Course 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670048"/>
            <a:ext cx="502920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807208"/>
            <a:ext cx="48097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Cross-course resource 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264408"/>
            <a:ext cx="246888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401568"/>
            <a:ext cx="224942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253F"/>
                </a:solidFill>
                <a:latin typeface="Aptos"/>
              </a:rPr>
              <a:t>Cloud Drive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264408"/>
            <a:ext cx="30175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3401568"/>
            <a:ext cx="27980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File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264408"/>
            <a:ext cx="5029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401568"/>
            <a:ext cx="48097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Academic structure and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858768"/>
            <a:ext cx="246888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3995928"/>
            <a:ext cx="224942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253F"/>
                </a:solidFill>
                <a:latin typeface="Aptos"/>
              </a:rPr>
              <a:t>Digital Library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858768"/>
            <a:ext cx="301752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3995928"/>
            <a:ext cx="27980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Books / journals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858768"/>
            <a:ext cx="502920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995928"/>
            <a:ext cx="48097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Exam &amp; curriculum orientation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453128"/>
            <a:ext cx="246888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4590288"/>
            <a:ext cx="224942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253F"/>
                </a:solidFill>
                <a:latin typeface="Aptos"/>
              </a:rPr>
              <a:t>Chat Groups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4453128"/>
            <a:ext cx="30175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55848" y="4590288"/>
            <a:ext cx="27980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Informal sharing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453128"/>
            <a:ext cx="5029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4590288"/>
            <a:ext cx="48097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Persistent, organised repository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047488"/>
            <a:ext cx="246888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5184648"/>
            <a:ext cx="224942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F253F"/>
                </a:solidFill>
                <a:latin typeface="Aptos"/>
              </a:rPr>
              <a:t>Question Bank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5047488"/>
            <a:ext cx="301752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55848" y="5184648"/>
            <a:ext cx="27980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Testing content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5047488"/>
            <a:ext cx="5029200" cy="557784"/>
          </a:xfrm>
          <a:prstGeom prst="rect">
            <a:avLst/>
          </a:prstGeom>
          <a:solidFill>
            <a:srgbClr val="EEF4F9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6248" y="5184648"/>
            <a:ext cx="48097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12830"/>
                </a:solidFill>
                <a:latin typeface="Aptos"/>
              </a:rPr>
              <a:t>Broader study-resource ecosystem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Institutional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Value beyond the individual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3152" cy="1170432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19072"/>
            <a:ext cx="466344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Academic Knowledge Preservation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48840"/>
            <a:ext cx="46634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Builds a reusable repository across batches and semesters.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73152" cy="1170432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719072"/>
            <a:ext cx="466344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Standardised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148840"/>
            <a:ext cx="46634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Creates a common discovery layer across programmes and departments.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39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063239"/>
            <a:ext cx="73152" cy="1170432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227832"/>
            <a:ext cx="466344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Lower Vendor Dependence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657599"/>
            <a:ext cx="46634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Open-source positioning can allow more control over future development.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63239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063239"/>
            <a:ext cx="73152" cy="1170432"/>
          </a:xfrm>
          <a:prstGeom prst="round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227832"/>
            <a:ext cx="466344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Integration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657599"/>
            <a:ext cx="46634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Can sit alongside ERP, LMS, library and other institutional platforms.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7200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572000"/>
            <a:ext cx="73152" cy="1170432"/>
          </a:xfrm>
          <a:prstGeom prst="roundRect">
            <a:avLst/>
          </a:prstGeom>
          <a:solidFill>
            <a:srgbClr val="2F915C"/>
          </a:solidFill>
          <a:ln>
            <a:solidFill>
              <a:srgbClr val="2F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736592"/>
            <a:ext cx="466344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Content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166360"/>
            <a:ext cx="46634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Creates an opportunity for faculty-curated and verified academic resources.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57200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572000"/>
            <a:ext cx="73152" cy="1170432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736592"/>
            <a:ext cx="466344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253F"/>
                </a:solidFill>
                <a:latin typeface="Aptos"/>
              </a:rPr>
              <a:t>Analytics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5166360"/>
            <a:ext cx="466344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E6974"/>
                </a:solidFill>
                <a:latin typeface="Aptos"/>
              </a:rPr>
              <a:t>Structured usage data can later support academic support and intervention.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Scalable Academic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A logical hierarchy for institution-wide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03807" y="1508760"/>
            <a:ext cx="9784080" cy="530352"/>
          </a:xfrm>
          <a:prstGeom prst="roundRect">
            <a:avLst/>
          </a:prstGeom>
          <a:solidFill>
            <a:srgbClr val="0F253F"/>
          </a:solidFill>
          <a:ln>
            <a:solidFill>
              <a:srgbClr val="0F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3807" y="1645919"/>
            <a:ext cx="9784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29587" y="2221991"/>
            <a:ext cx="8732519" cy="530352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9587" y="2359151"/>
            <a:ext cx="873251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SCHOOL /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5367" y="2935224"/>
            <a:ext cx="7680959" cy="530352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5367" y="3072384"/>
            <a:ext cx="768095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PROGRAMME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1147" y="3648456"/>
            <a:ext cx="6629400" cy="530352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1147" y="3785615"/>
            <a:ext cx="6629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SEMESTER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6927" y="4361688"/>
            <a:ext cx="5577840" cy="530352"/>
          </a:xfrm>
          <a:prstGeom prst="roundRect">
            <a:avLst/>
          </a:prstGeom>
          <a:solidFill>
            <a:srgbClr val="2F915C"/>
          </a:solidFill>
          <a:ln>
            <a:solidFill>
              <a:srgbClr val="2F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6927" y="4498848"/>
            <a:ext cx="5577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SUBJECT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32707" y="5074920"/>
            <a:ext cx="4526279" cy="530352"/>
          </a:xfrm>
          <a:prstGeom prst="round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2707" y="5212080"/>
            <a:ext cx="452627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TOPIC / RESOURCE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Evolution Opportunity: Techno Wallah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515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ED2E4"/>
                </a:solidFill>
                <a:latin typeface="Aptos"/>
              </a:rPr>
              <a:t>From resource aggregator to AI-powered student success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AI TUTOR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3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RAG-based answers grounded in approved academic 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508760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70992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DAA520"/>
                </a:solidFill>
                <a:latin typeface="Aptos"/>
              </a:rPr>
              <a:t>SMART 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14883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AI summaries, key concepts and revision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508760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0992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QUESTION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14883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Topic-wise previous-year questions and difficulty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3" y="1508760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3" y="170992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DAA520"/>
                </a:solidFill>
                <a:latin typeface="Aptos"/>
              </a:rPr>
              <a:t>ADAPTIVE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3" y="214883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Quizzes that respond to student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79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81304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PERSONALISED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25195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Weak-area identification and study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611879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381304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DAA520"/>
                </a:solidFill>
                <a:latin typeface="Aptos"/>
              </a:rPr>
              <a:t>MULTILINGUAL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425195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Concept explanation in the student's preferred language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3611879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381304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FACULTY CURATION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425195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Verified institutional resources and quality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98863" y="3611879"/>
            <a:ext cx="2542032" cy="1645920"/>
          </a:xfrm>
          <a:prstGeom prst="roundRect">
            <a:avLst/>
          </a:prstGeom>
          <a:solidFill>
            <a:srgbClr val="183250"/>
          </a:solidFill>
          <a:ln>
            <a:solidFill>
              <a:srgbClr val="37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3" y="3813048"/>
            <a:ext cx="2176272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DAA520"/>
                </a:solidFill>
                <a:latin typeface="Aptos"/>
              </a:rPr>
              <a:t>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3" y="4251959"/>
            <a:ext cx="2176272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Progress, usage and readiness 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ABED0"/>
                </a:solidFill>
                <a:latin typeface="Aptos"/>
              </a:rPr>
              <a:t>Future opportunities shown here are strategic recommendations, not claims about currently deployed functionality.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96AABE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96AA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Recommended Market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A clear promise for students and institutions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613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84831"/>
            <a:ext cx="9829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0F253F"/>
                </a:solidFill>
                <a:latin typeface="Aptos"/>
              </a:rPr>
              <a:t>“Everything a Student Needs to Learn, Practise and Prepare, in One Place.”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E6974"/>
                </a:solidFill>
                <a:latin typeface="Aptos"/>
              </a:rPr>
              <a:t>For an AI-enabled future version: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61320" cy="1143000"/>
          </a:xfrm>
          <a:prstGeom prst="roundRect">
            <a:avLst/>
          </a:prstGeom>
          <a:solidFill>
            <a:srgbClr val="0F253F"/>
          </a:solidFill>
          <a:ln>
            <a:solidFill>
              <a:srgbClr val="0F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480560"/>
            <a:ext cx="9921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LEARN.  PRACTISE.  ASK.  PREPARE.  SUCCEED.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19472"/>
            <a:ext cx="9921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99DBE"/>
                </a:solidFill>
                <a:latin typeface="Aptos"/>
              </a:rPr>
              <a:t>Powered by Techno Wallah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99DBE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424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F253F"/>
                </a:solidFill>
                <a:latin typeface="Aptos"/>
              </a:rPr>
              <a:t>The 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E6974"/>
                </a:solidFill>
                <a:latin typeface="Aptos"/>
              </a:rPr>
              <a:t>Repository → Intelligence → Personalisation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29967" y="1417320"/>
            <a:ext cx="786384" cy="786384"/>
          </a:xfrm>
          <a:prstGeom prst="roundRect">
            <a:avLst/>
          </a:prstGeom>
          <a:solidFill>
            <a:srgbClr val="1C5696"/>
          </a:solidFill>
          <a:ln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7" y="1609344"/>
            <a:ext cx="78638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F253F"/>
                </a:solidFill>
                <a:latin typeface="Aptos"/>
              </a:rPr>
              <a:t>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71800"/>
            <a:ext cx="2688336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5E6974"/>
                </a:solidFill>
                <a:latin typeface="Aptos"/>
              </a:rPr>
              <a:t>Bring academic resources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24728" y="1417320"/>
            <a:ext cx="786384" cy="786384"/>
          </a:xfrm>
          <a:prstGeom prst="roundRect">
            <a:avLst/>
          </a:prstGeom>
          <a:solidFill>
            <a:srgbClr val="199DBE"/>
          </a:solidFill>
          <a:ln>
            <a:solidFill>
              <a:srgbClr val="19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8" y="1609344"/>
            <a:ext cx="78638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240280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F253F"/>
                </a:solidFill>
                <a:latin typeface="Aptos"/>
              </a:rP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971800"/>
            <a:ext cx="2688336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5E6974"/>
                </a:solidFill>
                <a:latin typeface="Aptos"/>
              </a:rPr>
              <a:t>Add search, curation and AI assistance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74519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19488" y="1417320"/>
            <a:ext cx="786384" cy="786384"/>
          </a:xfrm>
          <a:prstGeom prst="roundRect">
            <a:avLst/>
          </a:prstGeom>
          <a:solidFill>
            <a:srgbClr val="14827D"/>
          </a:solidFill>
          <a:ln>
            <a:solidFill>
              <a:srgbClr val="14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609344"/>
            <a:ext cx="78638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240280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F253F"/>
                </a:solidFill>
                <a:latin typeface="Aptos"/>
              </a:rPr>
              <a:t>PERSONALISATION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971800"/>
            <a:ext cx="2688336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5E6974"/>
                </a:solidFill>
                <a:latin typeface="Aptos"/>
              </a:rPr>
              <a:t>Guide each student toward better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0F253F"/>
                </a:solidFill>
                <a:latin typeface="Aptos"/>
              </a:rPr>
              <a:t>Techno Wallah’s strongest opportunity is to become the unified student-facing academic gateway that complements existing institutional systems.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Source reviewed: https://technoedu-wheat.vercel.app/  |  Public site identifies the product as “Techno Wallah | Open-Source Exam &amp; Study Material Aggregator.”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0">
                <a:solidFill>
                  <a:srgbClr val="5E6974"/>
                </a:solidFill>
                <a:latin typeface="Aptos"/>
              </a:rPr>
              <a:t>TECHNO WALLAH  •  OFFERINGS &amp; VALUE PROPOSITION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